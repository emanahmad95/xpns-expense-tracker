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1" r:id="rId3"/>
    <p:sldId id="258" r:id="rId4"/>
    <p:sldId id="259" r:id="rId5"/>
    <p:sldId id="260" r:id="rId6"/>
    <p:sldId id="261" r:id="rId7"/>
    <p:sldId id="272" r:id="rId8"/>
    <p:sldId id="263" r:id="rId9"/>
    <p:sldId id="274" r:id="rId10"/>
    <p:sldId id="275" r:id="rId11"/>
    <p:sldId id="276" r:id="rId12"/>
    <p:sldId id="264" r:id="rId13"/>
    <p:sldId id="265" r:id="rId14"/>
    <p:sldId id="267" r:id="rId15"/>
    <p:sldId id="273" r:id="rId16"/>
    <p:sldId id="269" r:id="rId17"/>
  </p:sldIdLst>
  <p:sldSz cx="12192000" cy="6858000"/>
  <p:notesSz cx="6858000" cy="9144000"/>
  <p:embeddedFontLst>
    <p:embeddedFont>
      <p:font typeface="Arimo" panose="020B0604020202020204" charset="0"/>
      <p:regular r:id="rId19"/>
      <p:bold r:id="rId20"/>
      <p:italic r:id="rId21"/>
      <p:boldItalic r:id="rId22"/>
    </p:embeddedFont>
    <p:embeddedFont>
      <p:font typeface="Azeret Mono" panose="020B0604020202020204" charset="0"/>
      <p:regular r:id="rId23"/>
      <p:bold r:id="rId24"/>
      <p:italic r:id="rId25"/>
      <p:boldItalic r:id="rId26"/>
    </p:embeddedFont>
    <p:embeddedFont>
      <p:font typeface="Playfair Display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96B553-F259-47F2-9D3E-988F0FA94191}">
  <a:tblStyle styleId="{0796B553-F259-47F2-9D3E-988F0FA941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185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104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F73D6A1D-4874-E157-7284-B514B93F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>
            <a:extLst>
              <a:ext uri="{FF2B5EF4-FFF2-40B4-BE49-F238E27FC236}">
                <a16:creationId xmlns:a16="http://schemas.microsoft.com/office/drawing/2014/main" id="{6F662CE9-6069-4120-A186-8C89A274A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B5F98E7-0417-788A-3BB0-E70E65C75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319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7DF98F7C-273E-76D6-DADC-4C4E506F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>
            <a:extLst>
              <a:ext uri="{FF2B5EF4-FFF2-40B4-BE49-F238E27FC236}">
                <a16:creationId xmlns:a16="http://schemas.microsoft.com/office/drawing/2014/main" id="{7E04C57A-829D-2DB9-F711-78824A539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58CF2D6-6D75-DDD2-D98F-B037CC6A6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2820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54D1FA2-0FDD-1480-FBD8-072970C2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>
            <a:extLst>
              <a:ext uri="{FF2B5EF4-FFF2-40B4-BE49-F238E27FC236}">
                <a16:creationId xmlns:a16="http://schemas.microsoft.com/office/drawing/2014/main" id="{DCC4C7C6-C1A8-BE7A-4C09-ECC09F0D18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52BA6C4-CC33-A3A3-A466-BE78B651F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4511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583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8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3100387" y="1464915"/>
            <a:ext cx="5991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SEMESTER FINAL PROJECT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0606" y="1960215"/>
            <a:ext cx="629078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XPNS — Expense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Intelligence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100387" y="3922365"/>
            <a:ext cx="5991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Automating Financial Workflows for A.Z. Fashion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619750" y="4669035"/>
            <a:ext cx="952500" cy="381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00387" y="5088135"/>
            <a:ext cx="5991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MAY 20, 2026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200775" y="-2265982"/>
            <a:ext cx="5991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SEMESTER FINAL PROJECT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-6849886" y="1769715"/>
            <a:ext cx="629078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XPNS — Expense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Intelligence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2877433" y="4374112"/>
            <a:ext cx="5991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Automating Financial Workflows for A.Z. Fashion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619750" y="4669035"/>
            <a:ext cx="952500" cy="381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76637" y="8514382"/>
            <a:ext cx="5991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MAY 20, 2026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2840593" y="2867025"/>
            <a:ext cx="651081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Development Team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2995612" y="4103340"/>
            <a:ext cx="6200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BUSINESS ANALYTICS &amp; PYTHON DEVELOPMENT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949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42330"/>
            <a:ext cx="35559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742330"/>
            <a:ext cx="35559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742330"/>
            <a:ext cx="35559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9305"/>
            <a:ext cx="54292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209305"/>
            <a:ext cx="54292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92639" y="2732930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Eman Ahmad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866775" y="3228230"/>
            <a:ext cx="296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FA25-BBD-037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4539090" y="2732930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Rija Kunwar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4613225" y="3228230"/>
            <a:ext cx="296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FA25-BBD-132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8285540" y="2732930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Yumna Gul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359675" y="3228230"/>
            <a:ext cx="296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FA25-BBD-173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745807" y="5199905"/>
            <a:ext cx="508063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Zainab Khalid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569520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FA25-BBD-161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365557" y="5199905"/>
            <a:ext cx="508063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Isma Awais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486525" y="569520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FA25-BBD-063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3439318" y="7042404"/>
            <a:ext cx="333375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75173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Meet the Contributors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751730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446,619 Blue Person Icon Royalty-Free Images, Stock Photos &amp; Pictures |  Shutterstock">
            <a:extLst>
              <a:ext uri="{FF2B5EF4-FFF2-40B4-BE49-F238E27FC236}">
                <a16:creationId xmlns:a16="http://schemas.microsoft.com/office/drawing/2014/main" id="{63AA3563-4508-ADF3-20BA-66E33B95C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300" y="2108733"/>
            <a:ext cx="432588" cy="43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446,619 Blue Person Icon Royalty-Free Images, Stock Photos &amp; Pictures |  Shutterstock">
            <a:extLst>
              <a:ext uri="{FF2B5EF4-FFF2-40B4-BE49-F238E27FC236}">
                <a16:creationId xmlns:a16="http://schemas.microsoft.com/office/drawing/2014/main" id="{46415C53-424D-3C87-1B29-AB002BA39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862" y="2115101"/>
            <a:ext cx="395951" cy="39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446,619 Blue Person Icon Royalty-Free Images, Stock Photos &amp; Pictures |  Shutterstock">
            <a:extLst>
              <a:ext uri="{FF2B5EF4-FFF2-40B4-BE49-F238E27FC236}">
                <a16:creationId xmlns:a16="http://schemas.microsoft.com/office/drawing/2014/main" id="{5193F691-644A-F1A6-9EF8-0D29355AB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47" y="2108733"/>
            <a:ext cx="395951" cy="39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446,619 Blue Person Icon Royalty-Free Images, Stock Photos &amp; Pictures |  Shutterstock">
            <a:extLst>
              <a:ext uri="{FF2B5EF4-FFF2-40B4-BE49-F238E27FC236}">
                <a16:creationId xmlns:a16="http://schemas.microsoft.com/office/drawing/2014/main" id="{E05FD1AA-F256-F040-3522-E0261182B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148" y="4591608"/>
            <a:ext cx="395951" cy="39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446,619 Blue Person Icon Royalty-Free Images, Stock Photos &amp; Pictures |  Shutterstock">
            <a:extLst>
              <a:ext uri="{FF2B5EF4-FFF2-40B4-BE49-F238E27FC236}">
                <a16:creationId xmlns:a16="http://schemas.microsoft.com/office/drawing/2014/main" id="{5ED3A1C9-2C24-E6E0-A7CE-1C700B4F4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648" y="4591609"/>
            <a:ext cx="395951" cy="39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9B7FB8-A3FC-8C55-63E2-CCDB29C0AE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1367" y="0"/>
            <a:ext cx="649634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762000" y="1032569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Micro-Entrepreneur Case Study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571500" y="1032569"/>
            <a:ext cx="47625" cy="1219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899469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A.Z. Fashion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537644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 home-based boutique specializing in customized bridal and formal wear. Started in 2023, they manage high-value orders digitally via Instagram but rely on manual backend logging.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19125" y="5076241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Digital/Home Operations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383683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Custom Tailoring Focus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67121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20-25 Monthly Orders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19023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4950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7998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D4E676-1C9B-C31B-E8FB-F23A413A7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586" y="0"/>
            <a:ext cx="649634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70869"/>
            <a:ext cx="35559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670869"/>
            <a:ext cx="35559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670869"/>
            <a:ext cx="35559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66775" y="4156769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Paper notebooks are prone to damage and lack long-term query capabilities.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4539090" y="3661469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Financial Mix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4613225" y="4156769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Business and household expenses are often mixed, clouding profit visibility.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8285540" y="3661469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Delayed Entry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8359675" y="4156769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Small daily expenses are often forgotten, leading to inaccurate cost calculations.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Identification</a:t>
            </a:r>
            <a:endParaRPr dirty="0"/>
          </a:p>
        </p:txBody>
      </p:sp>
      <p:sp>
        <p:nvSpPr>
          <p:cNvPr id="159" name="Google Shape;159;p17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89,000+ Book Logo Stock Illustrations ...">
            <a:extLst>
              <a:ext uri="{FF2B5EF4-FFF2-40B4-BE49-F238E27FC236}">
                <a16:creationId xmlns:a16="http://schemas.microsoft.com/office/drawing/2014/main" id="{46F1C601-AF10-F37B-4B0D-8236A2A4C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067" y="2866131"/>
            <a:ext cx="1166813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Google Shape;149;p17"/>
          <p:cNvSpPr txBox="1"/>
          <p:nvPr/>
        </p:nvSpPr>
        <p:spPr>
          <a:xfrm>
            <a:off x="792639" y="3661469"/>
            <a:ext cx="3113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Manual Logs</a:t>
            </a:r>
            <a:endParaRPr dirty="0"/>
          </a:p>
        </p:txBody>
      </p:sp>
      <p:pic>
        <p:nvPicPr>
          <p:cNvPr id="2052" name="Picture 4" descr="Blue Curved Arrow Icon – Royalty-Free ...">
            <a:extLst>
              <a:ext uri="{FF2B5EF4-FFF2-40B4-BE49-F238E27FC236}">
                <a16:creationId xmlns:a16="http://schemas.microsoft.com/office/drawing/2014/main" id="{0BD76677-859F-B5D0-3530-B898770E1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137" y="3093838"/>
            <a:ext cx="683714" cy="45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ock - Free interface icons">
            <a:extLst>
              <a:ext uri="{FF2B5EF4-FFF2-40B4-BE49-F238E27FC236}">
                <a16:creationId xmlns:a16="http://schemas.microsoft.com/office/drawing/2014/main" id="{5BA3DAA5-3E90-18DD-94C7-8145DD772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1252" y="3103973"/>
            <a:ext cx="462246" cy="46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D0FFDC-E9F7-9435-3A53-04C99C9326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3925" y="0"/>
            <a:ext cx="649634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3"/>
          <a:srcRect/>
          <a:stretch/>
        </p:blipFill>
        <p:spPr>
          <a:xfrm>
            <a:off x="1309687" y="2685157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334125" y="2761357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Intelligence-Driven Tracking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334125" y="325665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XPNS provides a full-stack solution to replace the manual notebook system. By categorizing every PKR spent, the entrepreneur gains instant clarity on the real cost of every bridal order.</a:t>
            </a:r>
            <a:endParaRPr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6457950" y="46663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6524625" y="466635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Automated JSON data persistence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457950" y="49711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6524625" y="497115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Live category breakdown visualization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6457950" y="527595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6524625" y="527595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Excel interoperability for financial audits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XPNS Digital Ecosystem</a:t>
            </a:r>
            <a:endParaRPr dirty="0"/>
          </a:p>
        </p:txBody>
      </p:sp>
      <p:sp>
        <p:nvSpPr>
          <p:cNvPr id="176" name="Google Shape;176;p18"/>
          <p:cNvSpPr/>
          <p:nvPr/>
        </p:nvSpPr>
        <p:spPr>
          <a:xfrm flipH="1">
            <a:off x="573405" y="950862"/>
            <a:ext cx="45719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4"/>
          <a:srcRect/>
          <a:stretch/>
        </p:blipFill>
        <p:spPr>
          <a:xfrm>
            <a:off x="-4117182" y="2418457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57237" y="-889513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XPNS Digital Ecosystem</a:t>
            </a:r>
            <a:endParaRPr dirty="0"/>
          </a:p>
        </p:txBody>
      </p:sp>
      <p:sp>
        <p:nvSpPr>
          <p:cNvPr id="176" name="Google Shape;176;p18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A04A7-2918-7FFE-97A3-F39B3A6EB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5B798A-25E3-6F85-B405-801641589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0" y="0"/>
            <a:ext cx="8214437" cy="686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33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571500" y="2818507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Modular Excellence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31380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We utilized OOP principles to model the business domain into clean, reusable entities.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523875" y="408114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7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Expense Class: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Encapsulates individual records with ID, Amount, Category, and Date.</a:t>
            </a:r>
            <a:endParaRPr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282133" y="524307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145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ExpenseManager: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The central controller handling data logic, filtering, and summarization.</a:t>
            </a:r>
            <a:endParaRPr dirty="0"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2892" y="421805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5267" y="536564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Object-Oriented Design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9DDEB7-31E7-8A83-B330-AC180C922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871" y="0"/>
            <a:ext cx="6233239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C4A0D-2EF7-9FC4-0452-45D1B8E22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5" y="6994904"/>
            <a:ext cx="9334500" cy="287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994DBEAB-B702-5395-1CF6-79EE33A1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730C1CEC-9558-E399-D994-D6E2922A481B}"/>
              </a:ext>
            </a:extLst>
          </p:cNvPr>
          <p:cNvSpPr txBox="1"/>
          <p:nvPr/>
        </p:nvSpPr>
        <p:spPr>
          <a:xfrm>
            <a:off x="619125" y="200507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Expense Class — Digital Expense Record</a:t>
            </a:r>
            <a:endParaRPr dirty="0"/>
          </a:p>
        </p:txBody>
      </p:sp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416A266E-B0BD-029C-D670-BDD1BB81F252}"/>
              </a:ext>
            </a:extLst>
          </p:cNvPr>
          <p:cNvSpPr txBox="1"/>
          <p:nvPr/>
        </p:nvSpPr>
        <p:spPr>
          <a:xfrm>
            <a:off x="619125" y="2500375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Expense class models a single business expense.</a:t>
            </a:r>
            <a:endParaRPr dirty="0"/>
          </a:p>
        </p:txBody>
      </p:sp>
      <p:sp>
        <p:nvSpPr>
          <p:cNvPr id="209" name="Google Shape;209;p20">
            <a:extLst>
              <a:ext uri="{FF2B5EF4-FFF2-40B4-BE49-F238E27FC236}">
                <a16:creationId xmlns:a16="http://schemas.microsoft.com/office/drawing/2014/main" id="{DB594544-313B-8E3E-E793-97802E6ECFA0}"/>
              </a:ext>
            </a:extLst>
          </p:cNvPr>
          <p:cNvSpPr txBox="1"/>
          <p:nvPr/>
        </p:nvSpPr>
        <p:spPr>
          <a:xfrm>
            <a:off x="5142767" y="1155146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782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Purpose </a:t>
            </a:r>
            <a:b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Encapsulates all information related to one expense entry.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1F77A9EC-4AF2-4A4A-5994-A17D1FBF3C69}"/>
              </a:ext>
            </a:extLst>
          </p:cNvPr>
          <p:cNvSpPr txBox="1"/>
          <p:nvPr/>
        </p:nvSpPr>
        <p:spPr>
          <a:xfrm>
            <a:off x="4901025" y="2317076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1452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Key Attributes</a:t>
            </a:r>
            <a:b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5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✔️ Expense ID✔️ Description✔️ Amount✔️ Category✔️ Date</a:t>
            </a:r>
            <a:endParaRPr dirty="0"/>
          </a:p>
        </p:txBody>
      </p:sp>
      <p:pic>
        <p:nvPicPr>
          <p:cNvPr id="211" name="Google Shape;211;p20" descr="image.png">
            <a:extLst>
              <a:ext uri="{FF2B5EF4-FFF2-40B4-BE49-F238E27FC236}">
                <a16:creationId xmlns:a16="http://schemas.microsoft.com/office/drawing/2014/main" id="{482A466B-5EAF-0AC7-54A0-F4C8EE2EB6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2892" y="421805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>
            <a:extLst>
              <a:ext uri="{FF2B5EF4-FFF2-40B4-BE49-F238E27FC236}">
                <a16:creationId xmlns:a16="http://schemas.microsoft.com/office/drawing/2014/main" id="{FE4B4D05-FF16-6A3E-8FC6-D9A78EA53E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5267" y="536564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3DDCD43E-7327-106E-B037-CFBB19C3DD5E}"/>
              </a:ext>
            </a:extLst>
          </p:cNvPr>
          <p:cNvSpPr txBox="1"/>
          <p:nvPr/>
        </p:nvSpPr>
        <p:spPr>
          <a:xfrm>
            <a:off x="762000" y="95086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Expense Class</a:t>
            </a:r>
            <a:endParaRPr dirty="0"/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0844397F-54EA-DE13-4FD4-F5C1BE3AD5C3}"/>
              </a:ext>
            </a:extLst>
          </p:cNvPr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801EB-F936-D7D6-B5ED-9268F67E6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00" y="-115193"/>
            <a:ext cx="6233239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7E6AB6-8CCA-BB2D-CE11-DBBDF8637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3927372"/>
            <a:ext cx="93345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78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44552F83-3E6D-325F-776F-EAD85DF4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46;p17" descr="image.png">
            <a:extLst>
              <a:ext uri="{FF2B5EF4-FFF2-40B4-BE49-F238E27FC236}">
                <a16:creationId xmlns:a16="http://schemas.microsoft.com/office/drawing/2014/main" id="{066871D3-0C9B-D7A0-6998-E37DB7CA83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5894" y="2944145"/>
            <a:ext cx="2350770" cy="272249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Google Shape;146;p17" descr="image.png">
            <a:extLst>
              <a:ext uri="{FF2B5EF4-FFF2-40B4-BE49-F238E27FC236}">
                <a16:creationId xmlns:a16="http://schemas.microsoft.com/office/drawing/2014/main" id="{005D8819-6443-7DDB-6127-D8F850551B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6523" y="2001016"/>
            <a:ext cx="4628237" cy="432358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4" descr="195,600+ Blue Arrows Stock Photos ...">
            <a:extLst>
              <a:ext uri="{FF2B5EF4-FFF2-40B4-BE49-F238E27FC236}">
                <a16:creationId xmlns:a16="http://schemas.microsoft.com/office/drawing/2014/main" id="{8B7D00CD-D19E-7616-B2E2-34279D73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61532" flipH="1">
            <a:off x="9117644" y="4749335"/>
            <a:ext cx="1369486" cy="111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95,600+ Blue Arrows Stock Photos ...">
            <a:extLst>
              <a:ext uri="{FF2B5EF4-FFF2-40B4-BE49-F238E27FC236}">
                <a16:creationId xmlns:a16="http://schemas.microsoft.com/office/drawing/2014/main" id="{5BE1C17B-D6DC-A994-5108-6FEAF7DDF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482435" flipH="1">
            <a:off x="8997567" y="3115252"/>
            <a:ext cx="1369486" cy="111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DC459604-190B-F77E-4B1F-B4A96579159B}"/>
              </a:ext>
            </a:extLst>
          </p:cNvPr>
          <p:cNvSpPr txBox="1"/>
          <p:nvPr/>
        </p:nvSpPr>
        <p:spPr>
          <a:xfrm>
            <a:off x="619125" y="2005075"/>
            <a:ext cx="55506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Expense Object in Action</a:t>
            </a:r>
            <a:br>
              <a:rPr lang="en-US" sz="2100" b="1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2100" b="1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Each expense becomes an object.</a:t>
            </a:r>
            <a:endParaRPr dirty="0"/>
          </a:p>
        </p:txBody>
      </p:sp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119BF768-8D31-C302-7779-484AF03234D8}"/>
              </a:ext>
            </a:extLst>
          </p:cNvPr>
          <p:cNvSpPr txBox="1"/>
          <p:nvPr/>
        </p:nvSpPr>
        <p:spPr>
          <a:xfrm>
            <a:off x="1006377" y="4656192"/>
            <a:ext cx="407314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b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6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Business Benefit</a:t>
            </a:r>
            <a:b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Every transaction becomes a structured and searchable record.</a:t>
            </a:r>
            <a:endParaRPr sz="1600"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70F2B326-C585-6D7C-8586-2A76BB3734E5}"/>
              </a:ext>
            </a:extLst>
          </p:cNvPr>
          <p:cNvSpPr txBox="1"/>
          <p:nvPr/>
        </p:nvSpPr>
        <p:spPr>
          <a:xfrm>
            <a:off x="762000" y="95086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Expense Object Example</a:t>
            </a:r>
            <a:endParaRPr dirty="0"/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3517BCB2-D39E-2060-06BC-9165959BEC55}"/>
              </a:ext>
            </a:extLst>
          </p:cNvPr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748B7-7F2F-8ECA-46A9-A907F21CA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00" y="-115193"/>
            <a:ext cx="6233239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87475F-291B-AAFC-C315-E40B25185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8" y="7208965"/>
            <a:ext cx="9334500" cy="2876550"/>
          </a:xfrm>
          <a:prstGeom prst="rect">
            <a:avLst/>
          </a:prstGeom>
        </p:spPr>
      </p:pic>
      <p:pic>
        <p:nvPicPr>
          <p:cNvPr id="3074" name="Picture 2" descr="Hand drawn a business bar graph show to ...">
            <a:extLst>
              <a:ext uri="{FF2B5EF4-FFF2-40B4-BE49-F238E27FC236}">
                <a16:creationId xmlns:a16="http://schemas.microsoft.com/office/drawing/2014/main" id="{315CBDFA-7297-BDBB-A8B9-EBC945ACCB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6"/>
          <a:stretch>
            <a:fillRect/>
          </a:stretch>
        </p:blipFill>
        <p:spPr bwMode="auto">
          <a:xfrm>
            <a:off x="7780688" y="3865939"/>
            <a:ext cx="818652" cy="79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107EDA-D340-E80E-19D8-48C9EE368B99}"/>
              </a:ext>
            </a:extLst>
          </p:cNvPr>
          <p:cNvSpPr txBox="1"/>
          <p:nvPr/>
        </p:nvSpPr>
        <p:spPr>
          <a:xfrm>
            <a:off x="7794783" y="2420573"/>
            <a:ext cx="2350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How It Works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8243C-B804-45CD-9AC2-99B766089905}"/>
              </a:ext>
            </a:extLst>
          </p:cNvPr>
          <p:cNvSpPr txBox="1"/>
          <p:nvPr/>
        </p:nvSpPr>
        <p:spPr>
          <a:xfrm>
            <a:off x="7233741" y="3324160"/>
            <a:ext cx="1866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User enters data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3EA45-0DEC-9F12-B6DB-25152F492559}"/>
              </a:ext>
            </a:extLst>
          </p:cNvPr>
          <p:cNvSpPr txBox="1"/>
          <p:nvPr/>
        </p:nvSpPr>
        <p:spPr>
          <a:xfrm>
            <a:off x="9100641" y="4162808"/>
            <a:ext cx="186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→Expense object is created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67661-05D1-1E91-5F88-0A4EC04B71E2}"/>
              </a:ext>
            </a:extLst>
          </p:cNvPr>
          <p:cNvSpPr txBox="1"/>
          <p:nvPr/>
        </p:nvSpPr>
        <p:spPr>
          <a:xfrm>
            <a:off x="7233741" y="4985858"/>
            <a:ext cx="1866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Object is stored and managed by the system.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70AAD-B734-1A15-57AC-40EC6CC35A52}"/>
              </a:ext>
            </a:extLst>
          </p:cNvPr>
          <p:cNvSpPr txBox="1"/>
          <p:nvPr/>
        </p:nvSpPr>
        <p:spPr>
          <a:xfrm>
            <a:off x="915655" y="3493437"/>
            <a:ext cx="45906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Example Record</a:t>
            </a:r>
            <a:b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6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{ "description": "Fabric Purchase", "amount": 8500, "category": "Shopping", "date": "2026-05-10"}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753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EA79071-2364-ECD1-1718-98B52BB4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46;p17" descr="image.png">
            <a:extLst>
              <a:ext uri="{FF2B5EF4-FFF2-40B4-BE49-F238E27FC236}">
                <a16:creationId xmlns:a16="http://schemas.microsoft.com/office/drawing/2014/main" id="{9533C829-D3BC-5CAF-A300-B426993381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437" y="3684613"/>
            <a:ext cx="3492142" cy="142704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Google Shape;146;p17" descr="image.png">
            <a:extLst>
              <a:ext uri="{FF2B5EF4-FFF2-40B4-BE49-F238E27FC236}">
                <a16:creationId xmlns:a16="http://schemas.microsoft.com/office/drawing/2014/main" id="{DA895730-4893-5BD8-F745-9011BD82AA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437" y="3780406"/>
            <a:ext cx="3492142" cy="14270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Google Shape;146;p17" descr="image.png">
            <a:extLst>
              <a:ext uri="{FF2B5EF4-FFF2-40B4-BE49-F238E27FC236}">
                <a16:creationId xmlns:a16="http://schemas.microsoft.com/office/drawing/2014/main" id="{91D7118A-E89C-E33D-DB8D-1956D29D17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2733" y="3628006"/>
            <a:ext cx="3273544" cy="144129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Google Shape;146;p17" descr="image.png">
            <a:extLst>
              <a:ext uri="{FF2B5EF4-FFF2-40B4-BE49-F238E27FC236}">
                <a16:creationId xmlns:a16="http://schemas.microsoft.com/office/drawing/2014/main" id="{0FA2EDC5-2531-83D6-077C-C6EC0032AA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3447" y="3473647"/>
            <a:ext cx="3692116" cy="173380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146;p17" descr="image.png">
            <a:extLst>
              <a:ext uri="{FF2B5EF4-FFF2-40B4-BE49-F238E27FC236}">
                <a16:creationId xmlns:a16="http://schemas.microsoft.com/office/drawing/2014/main" id="{6F0EF2E7-3239-48F7-C204-781739F326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601" y="3475606"/>
            <a:ext cx="3893821" cy="173380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5BD0572D-54F5-73C5-834A-0D255188C2F2}"/>
              </a:ext>
            </a:extLst>
          </p:cNvPr>
          <p:cNvSpPr txBox="1"/>
          <p:nvPr/>
        </p:nvSpPr>
        <p:spPr>
          <a:xfrm>
            <a:off x="619125" y="200507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Expense Manager — System Brain</a:t>
            </a:r>
            <a:endParaRPr dirty="0"/>
          </a:p>
        </p:txBody>
      </p:sp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E1E35F2C-9302-BAEB-E728-822C377C6B46}"/>
              </a:ext>
            </a:extLst>
          </p:cNvPr>
          <p:cNvSpPr txBox="1"/>
          <p:nvPr/>
        </p:nvSpPr>
        <p:spPr>
          <a:xfrm>
            <a:off x="2199322" y="2797952"/>
            <a:ext cx="779335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Expense Manager class controls the complete workflow.</a:t>
            </a:r>
            <a:b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br>
              <a:rPr lang="en-US" sz="1500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endParaRPr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2B7C1283-68EC-0C85-2C35-07627B01D423}"/>
              </a:ext>
            </a:extLst>
          </p:cNvPr>
          <p:cNvSpPr txBox="1"/>
          <p:nvPr/>
        </p:nvSpPr>
        <p:spPr>
          <a:xfrm>
            <a:off x="762000" y="95086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Expense Manager Class</a:t>
            </a:r>
            <a:endParaRPr dirty="0"/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8097B1C-6A00-7AA3-AEC1-E6815396F221}"/>
              </a:ext>
            </a:extLst>
          </p:cNvPr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F7B0E-0AE8-E86C-B243-1F38426FC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300" y="-115193"/>
            <a:ext cx="6233239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C7BAFB-D59B-4F33-DBA9-E13578F35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568" y="7208965"/>
            <a:ext cx="9334500" cy="287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576D8E-6827-1635-E6DE-BCC406C4D81C}"/>
              </a:ext>
            </a:extLst>
          </p:cNvPr>
          <p:cNvSpPr txBox="1"/>
          <p:nvPr/>
        </p:nvSpPr>
        <p:spPr>
          <a:xfrm>
            <a:off x="965781" y="3570089"/>
            <a:ext cx="3893820" cy="134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Core Responsibilities</a:t>
            </a:r>
            <a:br>
              <a:rPr lang="en-US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✔️ Store expense objects ✔️ Validate inputs ✔️ Save and load files ✔️ Filter records ✔️Calculate summaries ✔️ Handle deletion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9BF9B-A7E5-3826-4B66-B8C8AC5D9D36}"/>
              </a:ext>
            </a:extLst>
          </p:cNvPr>
          <p:cNvSpPr txBox="1"/>
          <p:nvPr/>
        </p:nvSpPr>
        <p:spPr>
          <a:xfrm>
            <a:off x="7173224" y="3570089"/>
            <a:ext cx="44125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Main Function</a:t>
            </a:r>
          </a:p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✔️ </a:t>
            </a:r>
            <a:r>
              <a:rPr lang="en-US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add_expense</a:t>
            </a: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() ✔️ </a:t>
            </a:r>
            <a:r>
              <a:rPr lang="en-US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get_all</a:t>
            </a: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() ✔️</a:t>
            </a:r>
            <a:r>
              <a:rPr lang="en-US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filter_by_category</a:t>
            </a: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() ✔️ </a:t>
            </a:r>
            <a:r>
              <a:rPr lang="en-US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delete_expense</a:t>
            </a: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() ✔️</a:t>
            </a:r>
            <a:r>
              <a:rPr lang="en-US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calculate_summary</a:t>
            </a:r>
            <a:r>
              <a:rPr lang="en-US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() ✔️Design Benefit</a:t>
            </a:r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18967-9FFE-FA7C-63A0-E08EE72A70D6}"/>
              </a:ext>
            </a:extLst>
          </p:cNvPr>
          <p:cNvSpPr txBox="1"/>
          <p:nvPr/>
        </p:nvSpPr>
        <p:spPr>
          <a:xfrm>
            <a:off x="3778090" y="5210482"/>
            <a:ext cx="4635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b="1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Centralized logic improves system maintainability.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2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Expense Breakdown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72A5E-EF92-29D1-CF06-035658EA7B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0"/>
          <a:stretch>
            <a:fillRect/>
          </a:stretch>
        </p:blipFill>
        <p:spPr>
          <a:xfrm>
            <a:off x="571500" y="1849441"/>
            <a:ext cx="11049000" cy="43038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7A0206-46CB-CAA5-7413-2C1305DC4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0132" y="1"/>
            <a:ext cx="6233239" cy="6857999"/>
          </a:xfrm>
          <a:prstGeom prst="rect">
            <a:avLst/>
          </a:prstGeom>
        </p:spPr>
      </p:pic>
      <p:sp>
        <p:nvSpPr>
          <p:cNvPr id="221" name="Google Shape;221;p21"/>
          <p:cNvSpPr txBox="1"/>
          <p:nvPr/>
        </p:nvSpPr>
        <p:spPr>
          <a:xfrm>
            <a:off x="571500" y="560233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"Shopping" (Fabric/Material) represents the primary cost driver for A.Z. Fashion operations.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41462"/>
            <a:ext cx="11049000" cy="4345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Budget Allocation Proportions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4375692"/>
            <a:ext cx="52863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571500" y="2789082"/>
            <a:ext cx="52863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450358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EXCEPTION HANDLING COVERAGE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6096000" y="276031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Crash-Proof Reliability</a:t>
            </a:r>
            <a:endParaRPr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6228158" y="3086242"/>
            <a:ext cx="52863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Built with robust try-except blocks at every entry point. The system never crashes on invalid inputs, ensuring A.Z. Fashion's data remains safe even during user errors.</a:t>
            </a:r>
            <a:endParaRPr dirty="0"/>
          </a:p>
        </p:txBody>
      </p:sp>
      <p:sp>
        <p:nvSpPr>
          <p:cNvPr id="257" name="Google Shape;257;p24"/>
          <p:cNvSpPr txBox="1"/>
          <p:nvPr/>
        </p:nvSpPr>
        <p:spPr>
          <a:xfrm>
            <a:off x="762000" y="950862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Stability &amp; Integrity</a:t>
            </a:r>
            <a:endParaRPr dirty="0"/>
          </a:p>
        </p:txBody>
      </p:sp>
      <p:sp>
        <p:nvSpPr>
          <p:cNvPr id="258" name="Google Shape;258;p24"/>
          <p:cNvSpPr/>
          <p:nvPr/>
        </p:nvSpPr>
        <p:spPr>
          <a:xfrm>
            <a:off x="571500" y="950862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22A924-4F93-5316-BEDE-DC766C9402BF}"/>
              </a:ext>
            </a:extLst>
          </p:cNvPr>
          <p:cNvCxnSpPr/>
          <p:nvPr/>
        </p:nvCxnSpPr>
        <p:spPr>
          <a:xfrm>
            <a:off x="5567423" y="2546430"/>
            <a:ext cx="0" cy="25150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142D2F6-3B64-3B19-3B92-7974BD0FB1F4}"/>
              </a:ext>
            </a:extLst>
          </p:cNvPr>
          <p:cNvSpPr/>
          <p:nvPr/>
        </p:nvSpPr>
        <p:spPr>
          <a:xfrm>
            <a:off x="-231494" y="-185195"/>
            <a:ext cx="12537794" cy="7280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8FD22-B4B5-232C-A538-9E82125BD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130" y="1522787"/>
            <a:ext cx="7387739" cy="5004920"/>
          </a:xfrm>
          <a:prstGeom prst="rect">
            <a:avLst/>
          </a:prstGeom>
        </p:spPr>
      </p:pic>
      <p:sp>
        <p:nvSpPr>
          <p:cNvPr id="230" name="Google Shape;230;p22"/>
          <p:cNvSpPr txBox="1"/>
          <p:nvPr/>
        </p:nvSpPr>
        <p:spPr>
          <a:xfrm>
            <a:off x="395283" y="37066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E293B"/>
                </a:solidFill>
                <a:latin typeface="Playfair Display"/>
                <a:sym typeface="Playfair Display"/>
              </a:rPr>
              <a:t>E</a:t>
            </a:r>
            <a:r>
              <a:rPr lang="en-US" sz="3600" b="1" dirty="0" err="1">
                <a:solidFill>
                  <a:srgbClr val="1E293B"/>
                </a:solidFill>
                <a:latin typeface="Playfair Display"/>
                <a:sym typeface="Playfair Display"/>
              </a:rPr>
              <a:t>xception</a:t>
            </a:r>
            <a:r>
              <a:rPr lang="en-US" sz="3600" b="1" dirty="0">
                <a:solidFill>
                  <a:srgbClr val="1E293B"/>
                </a:solidFill>
                <a:latin typeface="Playfair Display"/>
                <a:sym typeface="Playfair Display"/>
              </a:rPr>
              <a:t> Handling</a:t>
            </a:r>
            <a:endParaRPr lang="en-US" dirty="0"/>
          </a:p>
        </p:txBody>
      </p:sp>
      <p:sp>
        <p:nvSpPr>
          <p:cNvPr id="231" name="Google Shape;231;p22"/>
          <p:cNvSpPr/>
          <p:nvPr/>
        </p:nvSpPr>
        <p:spPr>
          <a:xfrm rot="16200000">
            <a:off x="6073137" y="-776690"/>
            <a:ext cx="45719" cy="353028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77BBE7-1A67-DA80-F48C-62FB620F170B}"/>
              </a:ext>
            </a:extLst>
          </p:cNvPr>
          <p:cNvSpPr/>
          <p:nvPr/>
        </p:nvSpPr>
        <p:spPr>
          <a:xfrm>
            <a:off x="2282140" y="1392006"/>
            <a:ext cx="7627717" cy="5266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28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/>
          <p:nvPr/>
        </p:nvSpPr>
        <p:spPr>
          <a:xfrm>
            <a:off x="3505676" y="1866900"/>
            <a:ext cx="518064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3629025" y="329565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XPNS — FINAL SEMESTER PROJECT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3629025" y="379095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COMSATS University Islamabad | Fall 2025</a:t>
            </a:r>
            <a:endParaRPr/>
          </a:p>
        </p:txBody>
      </p:sp>
      <p:pic>
        <p:nvPicPr>
          <p:cNvPr id="290" name="Google Shape;29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6387" y="4676775"/>
            <a:ext cx="2762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212" y="467677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1762" y="46767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1;p22">
            <a:extLst>
              <a:ext uri="{FF2B5EF4-FFF2-40B4-BE49-F238E27FC236}">
                <a16:creationId xmlns:a16="http://schemas.microsoft.com/office/drawing/2014/main" id="{6571B89D-A9D2-902B-3625-643A9AED3BC7}"/>
              </a:ext>
            </a:extLst>
          </p:cNvPr>
          <p:cNvSpPr/>
          <p:nvPr/>
        </p:nvSpPr>
        <p:spPr>
          <a:xfrm rot="5400000">
            <a:off x="6048374" y="2795588"/>
            <a:ext cx="47625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648FF-5564-C94D-349F-F5EA10384749}"/>
              </a:ext>
            </a:extLst>
          </p:cNvPr>
          <p:cNvSpPr/>
          <p:nvPr/>
        </p:nvSpPr>
        <p:spPr>
          <a:xfrm>
            <a:off x="-173620" y="-173620"/>
            <a:ext cx="12697428" cy="72341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557</Words>
  <Application>Microsoft Office PowerPoint</Application>
  <PresentationFormat>Widescreen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Arimo</vt:lpstr>
      <vt:lpstr>Arial</vt:lpstr>
      <vt:lpstr>Calibri</vt:lpstr>
      <vt:lpstr>Playfair Display</vt:lpstr>
      <vt:lpstr>Azeret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Eman Ahmad</dc:creator>
  <cp:lastModifiedBy>(FA25-BBD-037) EMAN AHMAD</cp:lastModifiedBy>
  <cp:revision>21</cp:revision>
  <dcterms:modified xsi:type="dcterms:W3CDTF">2026-05-21T08:00:59Z</dcterms:modified>
</cp:coreProperties>
</file>